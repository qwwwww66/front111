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518" autoAdjust="0"/>
  </p:normalViewPr>
  <p:slideViewPr>
    <p:cSldViewPr snapToGrid="0">
      <p:cViewPr varScale="1">
        <p:scale>
          <a:sx n="96" d="100"/>
          <a:sy n="96" d="100"/>
        </p:scale>
        <p:origin x="11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2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school-lockup">
            <a:extLst>
              <a:ext uri="{FF2B5EF4-FFF2-40B4-BE49-F238E27FC236}">
                <a16:creationId xmlns:a16="http://schemas.microsoft.com/office/drawing/2014/main" id="{1F2ED0B3-4BE5-490A-91A8-C196999326AA}"/>
              </a:ext>
            </a:extLst>
          </p:cNvPr>
          <p:cNvSpPr>
            <a:spLocks noGrp="1"/>
          </p:cNvSpPr>
          <p:nvPr/>
        </p:nvSpPr>
        <p:spPr>
          <a:xfrm>
            <a:off x="1041400" y="387350"/>
            <a:ext cx="387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8CBD6"/>
                </a:solidFill>
              </a:defRPr>
            </a:pPr>
            <a:r>
              <a:rPr sz="1350" b="1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南京大学</a:t>
            </a:r>
            <a:r>
              <a:rPr sz="135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/  NANJING UNIVERSITY</a:t>
            </a:r>
          </a:p>
        </p:txBody>
      </p:sp>
      <p:sp>
        <p:nvSpPr>
          <p:cNvPr id="6" name="english-eyebrow">
            <a:extLst>
              <a:ext uri="{FF2B5EF4-FFF2-40B4-BE49-F238E27FC236}">
                <a16:creationId xmlns:a16="http://schemas.microsoft.com/office/drawing/2014/main" id="{3DB78D8E-67CD-4F83-A053-70DBF4AF34F4}"/>
              </a:ext>
            </a:extLst>
          </p:cNvPr>
          <p:cNvSpPr>
            <a:spLocks noGrp="1"/>
          </p:cNvSpPr>
          <p:nvPr/>
        </p:nvSpPr>
        <p:spPr>
          <a:xfrm>
            <a:off x="520699" y="838200"/>
            <a:ext cx="5126567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5E1B5"/>
                </a:solidFill>
              </a:defRPr>
            </a:pPr>
            <a:r>
              <a:rPr sz="1125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WATER CATALYTIC MATERIALS · MULTI-AGENT INTELLIGENCE</a:t>
            </a:r>
          </a:p>
        </p:txBody>
      </p:sp>
      <p:sp>
        <p:nvSpPr>
          <p:cNvPr id="7" name="main-title">
            <a:extLst>
              <a:ext uri="{FF2B5EF4-FFF2-40B4-BE49-F238E27FC236}">
                <a16:creationId xmlns:a16="http://schemas.microsoft.com/office/drawing/2014/main" id="{0DC08FE9-0741-42F6-95A5-4540E91B93F9}"/>
              </a:ext>
            </a:extLst>
          </p:cNvPr>
          <p:cNvSpPr>
            <a:spLocks noGrp="1"/>
          </p:cNvSpPr>
          <p:nvPr/>
        </p:nvSpPr>
        <p:spPr>
          <a:xfrm>
            <a:off x="520699" y="1238250"/>
            <a:ext cx="4473989" cy="146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defRPr sz="3750" b="1">
                <a:solidFill>
                  <a:srgbClr val="F3F7FA"/>
                </a:solidFill>
              </a:defRPr>
            </a:pPr>
            <a:r>
              <a:rPr sz="3750" b="1" dirty="0" err="1">
                <a:solidFill>
                  <a:srgbClr val="F3F7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水处理催化材料设计</a:t>
            </a:r>
            <a:endParaRPr sz="3750" b="1" dirty="0">
              <a:solidFill>
                <a:srgbClr val="F3F7F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12000"/>
              </a:lnSpc>
              <a:defRPr sz="3750" b="1">
                <a:solidFill>
                  <a:srgbClr val="F3F7FA"/>
                </a:solidFill>
              </a:defRPr>
            </a:pPr>
            <a:r>
              <a:rPr sz="3750" b="1" dirty="0" err="1">
                <a:solidFill>
                  <a:srgbClr val="F3F7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多智能体系统</a:t>
            </a:r>
            <a:endParaRPr sz="3750" b="1" dirty="0">
              <a:solidFill>
                <a:srgbClr val="F3F7F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brand-subtitle">
            <a:extLst>
              <a:ext uri="{FF2B5EF4-FFF2-40B4-BE49-F238E27FC236}">
                <a16:creationId xmlns:a16="http://schemas.microsoft.com/office/drawing/2014/main" id="{0CF4422E-7B62-476D-A190-62A088810881}"/>
              </a:ext>
            </a:extLst>
          </p:cNvPr>
          <p:cNvSpPr>
            <a:spLocks noGrp="1"/>
          </p:cNvSpPr>
          <p:nvPr/>
        </p:nvSpPr>
        <p:spPr>
          <a:xfrm>
            <a:off x="520700" y="2857500"/>
            <a:ext cx="3302000" cy="4145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43D7E8"/>
                </a:solidFill>
              </a:defRPr>
            </a:pPr>
            <a:r>
              <a:rPr sz="25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NJU-ECOMATS</a:t>
            </a:r>
          </a:p>
        </p:txBody>
      </p:sp>
      <p:sp>
        <p:nvSpPr>
          <p:cNvPr id="9" name="brand-underline">
            <a:extLst>
              <a:ext uri="{FF2B5EF4-FFF2-40B4-BE49-F238E27FC236}">
                <a16:creationId xmlns:a16="http://schemas.microsoft.com/office/drawing/2014/main" id="{5A3E4A80-F80C-45A7-A8C0-8C66A23D4D02}"/>
              </a:ext>
            </a:extLst>
          </p:cNvPr>
          <p:cNvSpPr>
            <a:spLocks noGrp="1"/>
          </p:cNvSpPr>
          <p:nvPr/>
        </p:nvSpPr>
        <p:spPr>
          <a:xfrm>
            <a:off x="520700" y="3314700"/>
            <a:ext cx="1041400" cy="1905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noFill/>
            <a:prstDash val="solid"/>
          </a:ln>
        </p:spPr>
      </p:sp>
      <p:sp>
        <p:nvSpPr>
          <p:cNvPr id="12" name="students-names">
            <a:extLst>
              <a:ext uri="{FF2B5EF4-FFF2-40B4-BE49-F238E27FC236}">
                <a16:creationId xmlns:a16="http://schemas.microsoft.com/office/drawing/2014/main" id="{27653AFA-4374-4FF3-BF05-1F6E0AA83083}"/>
              </a:ext>
            </a:extLst>
          </p:cNvPr>
          <p:cNvSpPr>
            <a:spLocks noGrp="1"/>
          </p:cNvSpPr>
          <p:nvPr/>
        </p:nvSpPr>
        <p:spPr>
          <a:xfrm>
            <a:off x="520698" y="3598124"/>
            <a:ext cx="4813301" cy="2682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30000"/>
              </a:lnSpc>
              <a:defRPr sz="1650" b="0">
                <a:solidFill>
                  <a:srgbClr val="F3F7FA"/>
                </a:solidFill>
              </a:defRPr>
            </a:pPr>
            <a:r>
              <a:rPr lang="zh-CN" altLang="en-US" sz="2000" b="1" dirty="0">
                <a:solidFill>
                  <a:srgbClr val="F3F7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参赛学生</a:t>
            </a:r>
            <a:endParaRPr lang="en-US" sz="2000" b="1" dirty="0">
              <a:solidFill>
                <a:srgbClr val="F3F7F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defRPr sz="1650" b="0">
                <a:solidFill>
                  <a:srgbClr val="F3F7FA"/>
                </a:solidFill>
              </a:defRPr>
            </a:pPr>
            <a:r>
              <a:rPr sz="2000" b="1" dirty="0" err="1">
                <a:solidFill>
                  <a:srgbClr val="F3F7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郭俊希、韩昱、周佳奇、李聪福、金文权</a:t>
            </a:r>
            <a:endParaRPr sz="2000" b="1" dirty="0">
              <a:solidFill>
                <a:srgbClr val="F3F7F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dvisors-names">
            <a:extLst>
              <a:ext uri="{FF2B5EF4-FFF2-40B4-BE49-F238E27FC236}">
                <a16:creationId xmlns:a16="http://schemas.microsoft.com/office/drawing/2014/main" id="{5110A7DB-94F6-4B98-9997-E65A077AAB09}"/>
              </a:ext>
            </a:extLst>
          </p:cNvPr>
          <p:cNvSpPr>
            <a:spLocks noGrp="1"/>
          </p:cNvSpPr>
          <p:nvPr/>
        </p:nvSpPr>
        <p:spPr>
          <a:xfrm>
            <a:off x="520698" y="4601095"/>
            <a:ext cx="4686301" cy="2682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30000"/>
              </a:lnSpc>
              <a:defRPr sz="1650" b="0">
                <a:solidFill>
                  <a:srgbClr val="F3F7FA"/>
                </a:solidFill>
              </a:defRPr>
            </a:pPr>
            <a:r>
              <a:rPr lang="zh-CN" altLang="en-US" sz="2000" b="1" dirty="0">
                <a:solidFill>
                  <a:srgbClr val="F3F7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指导教师</a:t>
            </a:r>
            <a:endParaRPr lang="en-US" altLang="zh-CN" sz="2000" b="1" dirty="0">
              <a:solidFill>
                <a:srgbClr val="F3F7F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0000"/>
              </a:lnSpc>
              <a:defRPr sz="1650" b="0">
                <a:solidFill>
                  <a:srgbClr val="F3F7FA"/>
                </a:solidFill>
              </a:defRPr>
            </a:pPr>
            <a:r>
              <a:rPr sz="2000" b="1" dirty="0" err="1">
                <a:solidFill>
                  <a:srgbClr val="F3F7F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王瑾丰、潘尧</a:t>
            </a:r>
            <a:endParaRPr sz="2000" b="1" dirty="0">
              <a:solidFill>
                <a:srgbClr val="F3F7F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visual-caption">
            <a:extLst>
              <a:ext uri="{FF2B5EF4-FFF2-40B4-BE49-F238E27FC236}">
                <a16:creationId xmlns:a16="http://schemas.microsoft.com/office/drawing/2014/main" id="{55199067-79E2-4886-9006-A58034A86DF3}"/>
              </a:ext>
            </a:extLst>
          </p:cNvPr>
          <p:cNvSpPr>
            <a:spLocks noGrp="1"/>
          </p:cNvSpPr>
          <p:nvPr/>
        </p:nvSpPr>
        <p:spPr>
          <a:xfrm>
            <a:off x="6987117" y="425450"/>
            <a:ext cx="5022850" cy="16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5C5D1"/>
                </a:solidFill>
              </a:defRPr>
            </a:pPr>
            <a:r>
              <a:rPr sz="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CATALYTIC ACTIVE SITES  ·  ELECTRON TRANSFER  ·  POLLUTANT DEGRADATION</a:t>
            </a:r>
          </a:p>
        </p:txBody>
      </p:sp>
      <p:sp>
        <p:nvSpPr>
          <p:cNvPr id="16" name="workflow-connector-1">
            <a:extLst>
              <a:ext uri="{FF2B5EF4-FFF2-40B4-BE49-F238E27FC236}">
                <a16:creationId xmlns:a16="http://schemas.microsoft.com/office/drawing/2014/main" id="{EAC75361-814F-4C34-85C0-1F9450B5EF05}"/>
              </a:ext>
            </a:extLst>
          </p:cNvPr>
          <p:cNvSpPr>
            <a:spLocks noGrp="1"/>
          </p:cNvSpPr>
          <p:nvPr/>
        </p:nvSpPr>
        <p:spPr>
          <a:xfrm>
            <a:off x="774700" y="6070600"/>
            <a:ext cx="2159000" cy="12700"/>
          </a:xfrm>
          <a:prstGeom prst="rect">
            <a:avLst/>
          </a:prstGeom>
          <a:solidFill>
            <a:srgbClr val="43D7E8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7" name="workflow-connector-2">
            <a:extLst>
              <a:ext uri="{FF2B5EF4-FFF2-40B4-BE49-F238E27FC236}">
                <a16:creationId xmlns:a16="http://schemas.microsoft.com/office/drawing/2014/main" id="{0B8E027C-7E36-4600-90B6-E73947DEF6C2}"/>
              </a:ext>
            </a:extLst>
          </p:cNvPr>
          <p:cNvSpPr>
            <a:spLocks noGrp="1"/>
          </p:cNvSpPr>
          <p:nvPr/>
        </p:nvSpPr>
        <p:spPr>
          <a:xfrm>
            <a:off x="3048000" y="6070600"/>
            <a:ext cx="2159000" cy="12700"/>
          </a:xfrm>
          <a:prstGeom prst="rect">
            <a:avLst/>
          </a:prstGeom>
          <a:solidFill>
            <a:srgbClr val="43D7E8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8" name="workflow-connector-3">
            <a:extLst>
              <a:ext uri="{FF2B5EF4-FFF2-40B4-BE49-F238E27FC236}">
                <a16:creationId xmlns:a16="http://schemas.microsoft.com/office/drawing/2014/main" id="{0A255520-9877-4435-9D91-ED73C6C8E31F}"/>
              </a:ext>
            </a:extLst>
          </p:cNvPr>
          <p:cNvSpPr>
            <a:spLocks noGrp="1"/>
          </p:cNvSpPr>
          <p:nvPr/>
        </p:nvSpPr>
        <p:spPr>
          <a:xfrm>
            <a:off x="5321300" y="6070600"/>
            <a:ext cx="2159000" cy="12700"/>
          </a:xfrm>
          <a:prstGeom prst="rect">
            <a:avLst/>
          </a:prstGeom>
          <a:solidFill>
            <a:srgbClr val="43D7E8">
              <a:alpha val="58000"/>
            </a:srgbClr>
          </a:solidFill>
          <a:ln w="0">
            <a:noFill/>
            <a:prstDash val="solid"/>
          </a:ln>
        </p:spPr>
      </p:sp>
      <p:sp>
        <p:nvSpPr>
          <p:cNvPr id="19" name="workflow-connector-4">
            <a:extLst>
              <a:ext uri="{FF2B5EF4-FFF2-40B4-BE49-F238E27FC236}">
                <a16:creationId xmlns:a16="http://schemas.microsoft.com/office/drawing/2014/main" id="{719A5343-CBD0-45AF-982D-16C60A708FB3}"/>
              </a:ext>
            </a:extLst>
          </p:cNvPr>
          <p:cNvSpPr>
            <a:spLocks noGrp="1"/>
          </p:cNvSpPr>
          <p:nvPr/>
        </p:nvSpPr>
        <p:spPr>
          <a:xfrm>
            <a:off x="7594600" y="6070600"/>
            <a:ext cx="2159000" cy="12700"/>
          </a:xfrm>
          <a:prstGeom prst="rect">
            <a:avLst/>
          </a:prstGeom>
          <a:solidFill>
            <a:srgbClr val="55E1B5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20" name="workflow-node-1">
            <a:extLst>
              <a:ext uri="{FF2B5EF4-FFF2-40B4-BE49-F238E27FC236}">
                <a16:creationId xmlns:a16="http://schemas.microsoft.com/office/drawing/2014/main" id="{24C4A22D-1E2A-4B0A-9290-6FCB8FECD416}"/>
              </a:ext>
            </a:extLst>
          </p:cNvPr>
          <p:cNvSpPr>
            <a:spLocks noGrp="1"/>
          </p:cNvSpPr>
          <p:nvPr/>
        </p:nvSpPr>
        <p:spPr>
          <a:xfrm>
            <a:off x="660400" y="6007100"/>
            <a:ext cx="127000" cy="127000"/>
          </a:xfrm>
          <a:prstGeom prst="ellipse">
            <a:avLst/>
          </a:prstGeom>
          <a:solidFill>
            <a:srgbClr val="43D7E8"/>
          </a:solidFill>
          <a:ln w="9525">
            <a:solidFill>
              <a:srgbClr val="F3F7FA">
                <a:alpha val="65000"/>
              </a:srgbClr>
            </a:solidFill>
            <a:prstDash val="solid"/>
          </a:ln>
        </p:spPr>
      </p:sp>
      <p:sp>
        <p:nvSpPr>
          <p:cNvPr id="21" name="workflow-label-1">
            <a:extLst>
              <a:ext uri="{FF2B5EF4-FFF2-40B4-BE49-F238E27FC236}">
                <a16:creationId xmlns:a16="http://schemas.microsoft.com/office/drawing/2014/main" id="{AFE68519-9B4B-4B35-8F40-D92C8E815349}"/>
              </a:ext>
            </a:extLst>
          </p:cNvPr>
          <p:cNvSpPr>
            <a:spLocks noGrp="1"/>
          </p:cNvSpPr>
          <p:nvPr/>
        </p:nvSpPr>
        <p:spPr>
          <a:xfrm>
            <a:off x="584200" y="6235700"/>
            <a:ext cx="10795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DEAF0"/>
                </a:solidFill>
              </a:defRPr>
            </a:pPr>
            <a:r>
              <a:rPr sz="1275" b="1" dirty="0" err="1">
                <a:solidFill>
                  <a:srgbClr val="DDEA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需求解析</a:t>
            </a:r>
            <a:endParaRPr sz="1275" b="1" dirty="0">
              <a:solidFill>
                <a:srgbClr val="DDEA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workflow-node-2">
            <a:extLst>
              <a:ext uri="{FF2B5EF4-FFF2-40B4-BE49-F238E27FC236}">
                <a16:creationId xmlns:a16="http://schemas.microsoft.com/office/drawing/2014/main" id="{B0ACADF5-E463-4826-B9E2-783EAB7F7061}"/>
              </a:ext>
            </a:extLst>
          </p:cNvPr>
          <p:cNvSpPr>
            <a:spLocks noGrp="1"/>
          </p:cNvSpPr>
          <p:nvPr/>
        </p:nvSpPr>
        <p:spPr>
          <a:xfrm>
            <a:off x="2933700" y="6007100"/>
            <a:ext cx="127000" cy="127000"/>
          </a:xfrm>
          <a:prstGeom prst="ellipse">
            <a:avLst/>
          </a:prstGeom>
          <a:solidFill>
            <a:srgbClr val="43D7E8"/>
          </a:solidFill>
          <a:ln w="9525">
            <a:solidFill>
              <a:srgbClr val="F3F7FA">
                <a:alpha val="65000"/>
              </a:srgbClr>
            </a:solidFill>
            <a:prstDash val="solid"/>
          </a:ln>
        </p:spPr>
      </p:sp>
      <p:sp>
        <p:nvSpPr>
          <p:cNvPr id="23" name="workflow-label-2">
            <a:extLst>
              <a:ext uri="{FF2B5EF4-FFF2-40B4-BE49-F238E27FC236}">
                <a16:creationId xmlns:a16="http://schemas.microsoft.com/office/drawing/2014/main" id="{CCC3232C-C20B-4528-81A4-3E527B0DE19C}"/>
              </a:ext>
            </a:extLst>
          </p:cNvPr>
          <p:cNvSpPr>
            <a:spLocks noGrp="1"/>
          </p:cNvSpPr>
          <p:nvPr/>
        </p:nvSpPr>
        <p:spPr>
          <a:xfrm>
            <a:off x="2857500" y="6235700"/>
            <a:ext cx="10795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DEAF0"/>
                </a:solidFill>
              </a:defRPr>
            </a:pPr>
            <a:r>
              <a:rPr sz="1275" b="1" dirty="0" err="1">
                <a:solidFill>
                  <a:srgbClr val="DDEA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材料设计</a:t>
            </a:r>
            <a:endParaRPr sz="1275" b="1" dirty="0">
              <a:solidFill>
                <a:srgbClr val="DDEA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workflow-node-3">
            <a:extLst>
              <a:ext uri="{FF2B5EF4-FFF2-40B4-BE49-F238E27FC236}">
                <a16:creationId xmlns:a16="http://schemas.microsoft.com/office/drawing/2014/main" id="{71C7FAFC-B08A-4CCB-9B85-67E3BFABF7C4}"/>
              </a:ext>
            </a:extLst>
          </p:cNvPr>
          <p:cNvSpPr>
            <a:spLocks noGrp="1"/>
          </p:cNvSpPr>
          <p:nvPr/>
        </p:nvSpPr>
        <p:spPr>
          <a:xfrm>
            <a:off x="5207000" y="6007100"/>
            <a:ext cx="127000" cy="127000"/>
          </a:xfrm>
          <a:prstGeom prst="ellipse">
            <a:avLst/>
          </a:prstGeom>
          <a:solidFill>
            <a:srgbClr val="F3B75B"/>
          </a:solidFill>
          <a:ln w="9525">
            <a:solidFill>
              <a:srgbClr val="F3F7FA">
                <a:alpha val="65000"/>
              </a:srgbClr>
            </a:solidFill>
            <a:prstDash val="solid"/>
          </a:ln>
        </p:spPr>
      </p:sp>
      <p:sp>
        <p:nvSpPr>
          <p:cNvPr id="26" name="workflow-node-4">
            <a:extLst>
              <a:ext uri="{FF2B5EF4-FFF2-40B4-BE49-F238E27FC236}">
                <a16:creationId xmlns:a16="http://schemas.microsoft.com/office/drawing/2014/main" id="{84418005-4F2C-4119-9FBE-5D0D2B7E3A1F}"/>
              </a:ext>
            </a:extLst>
          </p:cNvPr>
          <p:cNvSpPr>
            <a:spLocks noGrp="1"/>
          </p:cNvSpPr>
          <p:nvPr/>
        </p:nvSpPr>
        <p:spPr>
          <a:xfrm>
            <a:off x="7480300" y="6007100"/>
            <a:ext cx="127000" cy="127000"/>
          </a:xfrm>
          <a:prstGeom prst="ellipse">
            <a:avLst/>
          </a:prstGeom>
          <a:solidFill>
            <a:srgbClr val="43D7E8"/>
          </a:solidFill>
          <a:ln w="9525">
            <a:solidFill>
              <a:srgbClr val="F3F7FA">
                <a:alpha val="65000"/>
              </a:srgbClr>
            </a:solidFill>
            <a:prstDash val="solid"/>
          </a:ln>
        </p:spPr>
      </p:sp>
      <p:sp>
        <p:nvSpPr>
          <p:cNvPr id="27" name="workflow-label-4">
            <a:extLst>
              <a:ext uri="{FF2B5EF4-FFF2-40B4-BE49-F238E27FC236}">
                <a16:creationId xmlns:a16="http://schemas.microsoft.com/office/drawing/2014/main" id="{65433F11-4C93-40C0-AC56-42F775EAF0A3}"/>
              </a:ext>
            </a:extLst>
          </p:cNvPr>
          <p:cNvSpPr>
            <a:spLocks noGrp="1"/>
          </p:cNvSpPr>
          <p:nvPr/>
        </p:nvSpPr>
        <p:spPr>
          <a:xfrm>
            <a:off x="7404100" y="6235700"/>
            <a:ext cx="10795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DEAF0"/>
                </a:solidFill>
              </a:defRPr>
            </a:pPr>
            <a:r>
              <a:rPr sz="1275" b="1" dirty="0" err="1">
                <a:solidFill>
                  <a:srgbClr val="DDEA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机理挖掘</a:t>
            </a:r>
            <a:endParaRPr sz="1275" b="1" dirty="0">
              <a:solidFill>
                <a:srgbClr val="DDEA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workflow-node-5">
            <a:extLst>
              <a:ext uri="{FF2B5EF4-FFF2-40B4-BE49-F238E27FC236}">
                <a16:creationId xmlns:a16="http://schemas.microsoft.com/office/drawing/2014/main" id="{9D0657A7-102A-4741-A45A-3DF85DE589F3}"/>
              </a:ext>
            </a:extLst>
          </p:cNvPr>
          <p:cNvSpPr>
            <a:spLocks noGrp="1"/>
          </p:cNvSpPr>
          <p:nvPr/>
        </p:nvSpPr>
        <p:spPr>
          <a:xfrm>
            <a:off x="9753600" y="6007100"/>
            <a:ext cx="127000" cy="127000"/>
          </a:xfrm>
          <a:prstGeom prst="ellipse">
            <a:avLst/>
          </a:prstGeom>
          <a:solidFill>
            <a:srgbClr val="55E1B5"/>
          </a:solidFill>
          <a:ln w="9525">
            <a:solidFill>
              <a:srgbClr val="F3F7FA">
                <a:alpha val="65000"/>
              </a:srgbClr>
            </a:solidFill>
            <a:prstDash val="solid"/>
          </a:ln>
        </p:spPr>
      </p:sp>
      <p:sp>
        <p:nvSpPr>
          <p:cNvPr id="29" name="workflow-label-5">
            <a:extLst>
              <a:ext uri="{FF2B5EF4-FFF2-40B4-BE49-F238E27FC236}">
                <a16:creationId xmlns:a16="http://schemas.microsoft.com/office/drawing/2014/main" id="{00097EB9-6A43-4F67-A663-AD1A59063229}"/>
              </a:ext>
            </a:extLst>
          </p:cNvPr>
          <p:cNvSpPr>
            <a:spLocks noGrp="1"/>
          </p:cNvSpPr>
          <p:nvPr/>
        </p:nvSpPr>
        <p:spPr>
          <a:xfrm>
            <a:off x="9677400" y="6235700"/>
            <a:ext cx="10795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DEAF0"/>
                </a:solidFill>
              </a:defRPr>
            </a:pPr>
            <a:r>
              <a:rPr sz="1275" b="1" dirty="0" err="1">
                <a:solidFill>
                  <a:srgbClr val="DDEA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运行优化</a:t>
            </a:r>
            <a:endParaRPr sz="1275" b="1" dirty="0">
              <a:solidFill>
                <a:srgbClr val="DDEA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workflow-kicker">
            <a:extLst>
              <a:ext uri="{FF2B5EF4-FFF2-40B4-BE49-F238E27FC236}">
                <a16:creationId xmlns:a16="http://schemas.microsoft.com/office/drawing/2014/main" id="{47AE4954-7D7A-4EC8-A3D5-15D21B4B7DD1}"/>
              </a:ext>
            </a:extLst>
          </p:cNvPr>
          <p:cNvSpPr>
            <a:spLocks noGrp="1"/>
          </p:cNvSpPr>
          <p:nvPr/>
        </p:nvSpPr>
        <p:spPr>
          <a:xfrm>
            <a:off x="520700" y="5715000"/>
            <a:ext cx="2984500" cy="17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6EA3B5"/>
                </a:solidFill>
              </a:defRPr>
            </a:pPr>
            <a:r>
              <a:rPr sz="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MULTI-AGENT COLLABORATION WORKFLOW</a:t>
            </a:r>
          </a:p>
        </p:txBody>
      </p:sp>
      <p:sp>
        <p:nvSpPr>
          <p:cNvPr id="31" name="right-edge-marker">
            <a:extLst>
              <a:ext uri="{FF2B5EF4-FFF2-40B4-BE49-F238E27FC236}">
                <a16:creationId xmlns:a16="http://schemas.microsoft.com/office/drawing/2014/main" id="{4F66AD2F-EBA1-420F-BEBB-351803D89417}"/>
              </a:ext>
            </a:extLst>
          </p:cNvPr>
          <p:cNvSpPr>
            <a:spLocks noGrp="1"/>
          </p:cNvSpPr>
          <p:nvPr/>
        </p:nvSpPr>
        <p:spPr>
          <a:xfrm>
            <a:off x="11664950" y="5956300"/>
            <a:ext cx="12700" cy="330200"/>
          </a:xfrm>
          <a:prstGeom prst="rect">
            <a:avLst/>
          </a:prstGeom>
          <a:solidFill>
            <a:srgbClr val="43D7E8">
              <a:alpha val="72000"/>
            </a:srgbClr>
          </a:solidFill>
          <a:ln w="0">
            <a:noFill/>
            <a:prstDash val="solid"/>
          </a:ln>
        </p:spPr>
      </p:sp>
      <p:sp>
        <p:nvSpPr>
          <p:cNvPr id="33" name="workflow-label-2">
            <a:extLst>
              <a:ext uri="{FF2B5EF4-FFF2-40B4-BE49-F238E27FC236}">
                <a16:creationId xmlns:a16="http://schemas.microsoft.com/office/drawing/2014/main" id="{94186E56-5369-4B2D-B105-E757F15B9655}"/>
              </a:ext>
            </a:extLst>
          </p:cNvPr>
          <p:cNvSpPr>
            <a:spLocks noGrp="1"/>
          </p:cNvSpPr>
          <p:nvPr/>
        </p:nvSpPr>
        <p:spPr>
          <a:xfrm>
            <a:off x="5146675" y="6231467"/>
            <a:ext cx="1079500" cy="21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DEAF0"/>
                </a:solidFill>
              </a:defRPr>
            </a:pPr>
            <a:r>
              <a:rPr lang="zh-CN" altLang="en-US" sz="1275" b="1" dirty="0">
                <a:solidFill>
                  <a:srgbClr val="DDEA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专家评价</a:t>
            </a:r>
            <a:endParaRPr sz="1275" b="1" dirty="0">
              <a:solidFill>
                <a:srgbClr val="DDEA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D1E59D5-2D8E-4AF1-964F-871083611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9" y="52917"/>
            <a:ext cx="668421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6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B08A9D37-F53A-4CD7-A126-09B7E1E9F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13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47</Words>
  <Application>Microsoft Office PowerPoint</Application>
  <DocSecurity>0</DocSecurity>
  <PresentationFormat>宽屏</PresentationFormat>
  <Paragraphs>16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微软雅黑</vt:lpstr>
      <vt:lpstr>Calibri</vt:lpstr>
      <vt:lpstr>Times New Roman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檗 柏</cp:lastModifiedBy>
  <cp:revision>7</cp:revision>
  <dcterms:created xsi:type="dcterms:W3CDTF">2026-07-27T02:24:10Z</dcterms:created>
  <dcterms:modified xsi:type="dcterms:W3CDTF">2026-07-27T03:14:32Z</dcterms:modified>
</cp:coreProperties>
</file>